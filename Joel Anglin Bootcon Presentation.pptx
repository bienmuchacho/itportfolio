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21d58b18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21d58b18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21d58b1801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21d58b1801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21d58b1801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21d58b1801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21d58b1801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21d58b1801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224845ac5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224845ac5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21d58b1801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21d58b1801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233a914c05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233a914c05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233a914c05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233a914c05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21d58b1801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21d58b1801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21d58b1801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21d58b1801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223811e417_7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223811e417_7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false positives are usually either 404 or 200 http messages.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233a914c0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233a914c0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Nikto or as it is commonly known Nikto2 is a great tool that is used by many Penetration testers.  It has the ability to perform a vast array of scans on Web servers, and can even be used to target specific ports to search for over 6700 different vulnerabilities.  The largest drawbacks are the lack of technical support, and the amount of time the scans can take. Though it is a great tool to have in your pocket to get the job started.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drive.google.com/file/d/1oFZXAH04DZ--gKhClyIqX1TXnvqZzaaW/view" TargetMode="Externa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drive.google.com/file/d/1yP0qgIT88raTdfLpTpl0W546vLjkYf6y/view" TargetMode="External"/><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idx="1" type="subTitle"/>
          </p:nvPr>
        </p:nvSpPr>
        <p:spPr>
          <a:xfrm>
            <a:off x="262850" y="404550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solidFill>
                  <a:srgbClr val="76A5AF"/>
                </a:solidFill>
              </a:rPr>
              <a:t>Presentation by: Eric Boecker, Jordan Heller, Joel Anglin, Jazmarie Hyder</a:t>
            </a:r>
            <a:endParaRPr>
              <a:solidFill>
                <a:srgbClr val="76A5A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500"/>
              <a:t>What is Nikto?</a:t>
            </a:r>
            <a:endParaRPr b="1" sz="3500"/>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Also known as “Nikto2”, is an open source (GPL) web server scanner/analyzer which can perform vulnerability scans against web servers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Scans for </a:t>
            </a:r>
            <a:r>
              <a:rPr lang="en">
                <a:solidFill>
                  <a:srgbClr val="000000"/>
                </a:solidFill>
              </a:rPr>
              <a:t>potentially</a:t>
            </a:r>
            <a:r>
              <a:rPr lang="en">
                <a:solidFill>
                  <a:srgbClr val="000000"/>
                </a:solidFill>
              </a:rPr>
              <a:t> dangerous files, outdated versions of servers, and version specific problems on servers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Can be used to run automated scans of web servers and applications checking for additional </a:t>
            </a:r>
            <a:r>
              <a:rPr lang="en">
                <a:solidFill>
                  <a:srgbClr val="000000"/>
                </a:solidFill>
              </a:rPr>
              <a:t>vulnerabilities such as: the presence of multiple index files, HTTP server options, and identify installed web servers/software</a:t>
            </a:r>
            <a:endParaRPr>
              <a:solidFill>
                <a:srgbClr val="000000"/>
              </a:solidFill>
            </a:endParaRPr>
          </a:p>
          <a:p>
            <a:pPr indent="0" lvl="0" marL="457200" rtl="0" algn="l">
              <a:spcBef>
                <a:spcPts val="1200"/>
              </a:spcBef>
              <a:spcAft>
                <a:spcPts val="0"/>
              </a:spcAft>
              <a:buNone/>
            </a:pPr>
            <a:r>
              <a:t/>
            </a:r>
            <a:endParaRPr>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500"/>
              <a:t>Nikto’s Key Features</a:t>
            </a:r>
            <a:endParaRPr b="1" sz="3500"/>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Free-to-use and frequently updated</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Available</a:t>
            </a:r>
            <a:r>
              <a:rPr lang="en">
                <a:solidFill>
                  <a:srgbClr val="000000"/>
                </a:solidFill>
              </a:rPr>
              <a:t> on many </a:t>
            </a:r>
            <a:r>
              <a:rPr lang="en">
                <a:solidFill>
                  <a:srgbClr val="000000"/>
                </a:solidFill>
              </a:rPr>
              <a:t>operating</a:t>
            </a:r>
            <a:r>
              <a:rPr lang="en">
                <a:solidFill>
                  <a:srgbClr val="000000"/>
                </a:solidFill>
              </a:rPr>
              <a:t> systems such as: Linux, RedHat, MacOSX, Debian, Ubuntu, Solaris, etc</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Scans up to 6700+ known vulnerabilities </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SSL certificate scanning</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Supports multiple ports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Ability to scan through a proxy along with HTTP authentication</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Guess credentials for authorization (including many default username/password combinations)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Can export to Metasploit</a:t>
            </a: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500"/>
              <a:t>Scanning</a:t>
            </a:r>
            <a:endParaRPr b="1" sz="3500"/>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solidFill>
                  <a:srgbClr val="000000"/>
                </a:solidFill>
              </a:rPr>
              <a:t>There are multiple syntaxes to run the scan against the web server</a:t>
            </a:r>
            <a:endParaRPr>
              <a:solidFill>
                <a:srgbClr val="000000"/>
              </a:solidFill>
            </a:endParaRPr>
          </a:p>
          <a:p>
            <a:pPr indent="0" lvl="0" marL="0" rtl="0" algn="l">
              <a:spcBef>
                <a:spcPts val="1200"/>
              </a:spcBef>
              <a:spcAft>
                <a:spcPts val="0"/>
              </a:spcAft>
              <a:buNone/>
            </a:pPr>
            <a:r>
              <a:rPr lang="en">
                <a:solidFill>
                  <a:srgbClr val="000000"/>
                </a:solidFill>
              </a:rPr>
              <a:t>The quickest way is </a:t>
            </a:r>
            <a:endParaRPr>
              <a:solidFill>
                <a:srgbClr val="000000"/>
              </a:solidFill>
            </a:endParaRPr>
          </a:p>
          <a:p>
            <a:pPr indent="-317182" lvl="0" marL="457200" rtl="0" algn="l">
              <a:spcBef>
                <a:spcPts val="1200"/>
              </a:spcBef>
              <a:spcAft>
                <a:spcPts val="0"/>
              </a:spcAft>
              <a:buSzPct val="105882"/>
              <a:buChar char="●"/>
            </a:pPr>
            <a:r>
              <a:rPr lang="en"/>
              <a:t> </a:t>
            </a:r>
            <a:r>
              <a:rPr lang="en" sz="1700">
                <a:solidFill>
                  <a:schemeClr val="dk1"/>
                </a:solidFill>
                <a:highlight>
                  <a:schemeClr val="lt1"/>
                </a:highlight>
              </a:rPr>
              <a:t>nikto –h $example.com </a:t>
            </a:r>
            <a:endParaRPr sz="1700">
              <a:solidFill>
                <a:schemeClr val="dk1"/>
              </a:solidFill>
              <a:highlight>
                <a:schemeClr val="lt1"/>
              </a:highlight>
            </a:endParaRPr>
          </a:p>
          <a:p>
            <a:pPr indent="0" lvl="0" marL="0" rtl="0" algn="l">
              <a:spcBef>
                <a:spcPts val="1200"/>
              </a:spcBef>
              <a:spcAft>
                <a:spcPts val="0"/>
              </a:spcAft>
              <a:buNone/>
            </a:pPr>
            <a:r>
              <a:rPr lang="en" sz="1700">
                <a:solidFill>
                  <a:schemeClr val="dk1"/>
                </a:solidFill>
                <a:highlight>
                  <a:schemeClr val="lt1"/>
                </a:highlight>
              </a:rPr>
              <a:t>You can use multiple different plugins</a:t>
            </a:r>
            <a:endParaRPr sz="1700">
              <a:solidFill>
                <a:schemeClr val="dk1"/>
              </a:solidFill>
              <a:highlight>
                <a:schemeClr val="lt1"/>
              </a:highlight>
            </a:endParaRPr>
          </a:p>
          <a:p>
            <a:pPr indent="0" lvl="0" marL="0" rtl="0" algn="l">
              <a:spcBef>
                <a:spcPts val="1200"/>
              </a:spcBef>
              <a:spcAft>
                <a:spcPts val="0"/>
              </a:spcAft>
              <a:buNone/>
            </a:pPr>
            <a:r>
              <a:t/>
            </a:r>
            <a:endParaRPr sz="1700">
              <a:solidFill>
                <a:schemeClr val="dk1"/>
              </a:solidFill>
              <a:highlight>
                <a:srgbClr val="EEEEEE"/>
              </a:highlight>
            </a:endParaRPr>
          </a:p>
          <a:p>
            <a:pPr indent="0" lvl="0" marL="0" rtl="0" algn="l">
              <a:spcBef>
                <a:spcPts val="1200"/>
              </a:spcBef>
              <a:spcAft>
                <a:spcPts val="0"/>
              </a:spcAft>
              <a:buNone/>
            </a:pPr>
            <a:r>
              <a:rPr lang="en" sz="1700">
                <a:solidFill>
                  <a:schemeClr val="dk1"/>
                </a:solidFill>
              </a:rPr>
              <a:t>Basic options:</a:t>
            </a:r>
            <a:endParaRPr sz="1700">
              <a:solidFill>
                <a:schemeClr val="dk1"/>
              </a:solidFill>
            </a:endParaRPr>
          </a:p>
          <a:p>
            <a:pPr indent="-312261" lvl="0" marL="457200" rtl="0" algn="l">
              <a:spcBef>
                <a:spcPts val="1200"/>
              </a:spcBef>
              <a:spcAft>
                <a:spcPts val="0"/>
              </a:spcAft>
              <a:buClr>
                <a:schemeClr val="dk1"/>
              </a:buClr>
              <a:buSzPct val="100000"/>
              <a:buChar char="●"/>
            </a:pPr>
            <a:r>
              <a:rPr lang="en" sz="1700">
                <a:solidFill>
                  <a:schemeClr val="dk1"/>
                </a:solidFill>
              </a:rPr>
              <a:t>-o, -h, -port, -ssl</a:t>
            </a:r>
            <a:endParaRPr sz="1700">
              <a:solidFill>
                <a:schemeClr val="dk1"/>
              </a:solidFill>
            </a:endParaRPr>
          </a:p>
          <a:p>
            <a:pPr indent="-312261" lvl="0" marL="457200" rtl="0" algn="l">
              <a:spcBef>
                <a:spcPts val="0"/>
              </a:spcBef>
              <a:spcAft>
                <a:spcPts val="0"/>
              </a:spcAft>
              <a:buClr>
                <a:schemeClr val="dk1"/>
              </a:buClr>
              <a:buSzPct val="100000"/>
              <a:buChar char="●"/>
            </a:pPr>
            <a:r>
              <a:rPr lang="en" sz="1700">
                <a:solidFill>
                  <a:schemeClr val="dk1"/>
                </a:solidFill>
              </a:rPr>
              <a:t>-Format msf+</a:t>
            </a:r>
            <a:endParaRPr sz="1700">
              <a:solidFill>
                <a:schemeClr val="dk1"/>
              </a:solidFill>
            </a:endParaRPr>
          </a:p>
          <a:p>
            <a:pPr indent="0" lvl="0" marL="0" rtl="0" algn="l">
              <a:spcBef>
                <a:spcPts val="1200"/>
              </a:spcBef>
              <a:spcAft>
                <a:spcPts val="0"/>
              </a:spcAft>
              <a:buNone/>
            </a:pPr>
            <a:r>
              <a:t/>
            </a:r>
            <a:endParaRPr sz="1700">
              <a:solidFill>
                <a:schemeClr val="dk1"/>
              </a:solidFill>
            </a:endParaRPr>
          </a:p>
          <a:p>
            <a:pPr indent="0" lvl="0" marL="0" rtl="0" algn="l">
              <a:spcBef>
                <a:spcPts val="1200"/>
              </a:spcBef>
              <a:spcAft>
                <a:spcPts val="1200"/>
              </a:spcAft>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214025"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520"/>
              <a:t>Common Commands to know for Nikto</a:t>
            </a:r>
            <a:endParaRPr b="1" sz="3520"/>
          </a:p>
        </p:txBody>
      </p:sp>
      <p:pic>
        <p:nvPicPr>
          <p:cNvPr id="78" name="Google Shape;78;p17"/>
          <p:cNvPicPr preferRelativeResize="0"/>
          <p:nvPr/>
        </p:nvPicPr>
        <p:blipFill>
          <a:blip r:embed="rId3">
            <a:alphaModFix/>
          </a:blip>
          <a:stretch>
            <a:fillRect/>
          </a:stretch>
        </p:blipFill>
        <p:spPr>
          <a:xfrm>
            <a:off x="1032413" y="1095875"/>
            <a:ext cx="6883820" cy="3820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520"/>
              <a:t>Scan Search examples</a:t>
            </a:r>
            <a:endParaRPr b="1" sz="3520"/>
          </a:p>
        </p:txBody>
      </p:sp>
      <p:pic>
        <p:nvPicPr>
          <p:cNvPr id="84" name="Google Shape;84;p18"/>
          <p:cNvPicPr preferRelativeResize="0"/>
          <p:nvPr/>
        </p:nvPicPr>
        <p:blipFill>
          <a:blip r:embed="rId3">
            <a:alphaModFix/>
          </a:blip>
          <a:stretch>
            <a:fillRect/>
          </a:stretch>
        </p:blipFill>
        <p:spPr>
          <a:xfrm>
            <a:off x="152400" y="1170125"/>
            <a:ext cx="8839199" cy="36808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520"/>
              <a:t>Installing Nikto</a:t>
            </a:r>
            <a:endParaRPr b="1" sz="3520"/>
          </a:p>
        </p:txBody>
      </p:sp>
      <p:sp>
        <p:nvSpPr>
          <p:cNvPr id="90" name="Google Shape;90;p19"/>
          <p:cNvSpPr txBox="1"/>
          <p:nvPr>
            <p:ph idx="1" type="body"/>
          </p:nvPr>
        </p:nvSpPr>
        <p:spPr>
          <a:xfrm>
            <a:off x="311700" y="1152475"/>
            <a:ext cx="42603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rgbClr val="000000"/>
                </a:solidFill>
              </a:rPr>
              <a:t>Nikto does not come pre-installed on operating systems by default, therefore the command to install Nikto is as follows:</a:t>
            </a:r>
            <a:endParaRPr sz="1700">
              <a:solidFill>
                <a:srgbClr val="000000"/>
              </a:solidFill>
            </a:endParaRPr>
          </a:p>
          <a:p>
            <a:pPr indent="0" lvl="0" marL="0" rtl="0" algn="l">
              <a:spcBef>
                <a:spcPts val="1200"/>
              </a:spcBef>
              <a:spcAft>
                <a:spcPts val="0"/>
              </a:spcAft>
              <a:buNone/>
            </a:pPr>
            <a:r>
              <a:t/>
            </a:r>
            <a:endParaRPr sz="1700">
              <a:solidFill>
                <a:srgbClr val="000000"/>
              </a:solidFill>
            </a:endParaRPr>
          </a:p>
          <a:p>
            <a:pPr indent="0" lvl="0" marL="0" rtl="0" algn="l">
              <a:spcBef>
                <a:spcPts val="1200"/>
              </a:spcBef>
              <a:spcAft>
                <a:spcPts val="0"/>
              </a:spcAft>
              <a:buNone/>
            </a:pPr>
            <a:r>
              <a:t/>
            </a:r>
            <a:endParaRPr sz="1700">
              <a:solidFill>
                <a:srgbClr val="000000"/>
              </a:solidFill>
            </a:endParaRPr>
          </a:p>
          <a:p>
            <a:pPr indent="0" lvl="0" marL="0" rtl="0" algn="ctr">
              <a:spcBef>
                <a:spcPts val="1200"/>
              </a:spcBef>
              <a:spcAft>
                <a:spcPts val="1200"/>
              </a:spcAft>
              <a:buNone/>
            </a:pPr>
            <a:r>
              <a:t/>
            </a:r>
            <a:endParaRPr sz="1700">
              <a:solidFill>
                <a:srgbClr val="FF0000"/>
              </a:solidFill>
            </a:endParaRPr>
          </a:p>
        </p:txBody>
      </p:sp>
      <p:sp>
        <p:nvSpPr>
          <p:cNvPr id="91" name="Google Shape;91;p19"/>
          <p:cNvSpPr txBox="1"/>
          <p:nvPr>
            <p:ph idx="1" type="body"/>
          </p:nvPr>
        </p:nvSpPr>
        <p:spPr>
          <a:xfrm>
            <a:off x="4572000" y="1152475"/>
            <a:ext cx="42603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rgbClr val="000000"/>
                </a:solidFill>
              </a:rPr>
              <a:t>Understanding how to use Nikto simply run this command:</a:t>
            </a:r>
            <a:endParaRPr sz="1700">
              <a:solidFill>
                <a:srgbClr val="000000"/>
              </a:solidFill>
            </a:endParaRPr>
          </a:p>
          <a:p>
            <a:pPr indent="0" lvl="0" marL="0" rtl="0" algn="l">
              <a:spcBef>
                <a:spcPts val="1200"/>
              </a:spcBef>
              <a:spcAft>
                <a:spcPts val="0"/>
              </a:spcAft>
              <a:buNone/>
            </a:pPr>
            <a:r>
              <a:t/>
            </a:r>
            <a:endParaRPr sz="1700">
              <a:solidFill>
                <a:srgbClr val="000000"/>
              </a:solidFill>
            </a:endParaRPr>
          </a:p>
          <a:p>
            <a:pPr indent="0" lvl="0" marL="0" rtl="0" algn="l">
              <a:spcBef>
                <a:spcPts val="1200"/>
              </a:spcBef>
              <a:spcAft>
                <a:spcPts val="0"/>
              </a:spcAft>
              <a:buNone/>
            </a:pPr>
            <a:r>
              <a:t/>
            </a:r>
            <a:endParaRPr sz="1700">
              <a:solidFill>
                <a:srgbClr val="000000"/>
              </a:solidFill>
            </a:endParaRPr>
          </a:p>
          <a:p>
            <a:pPr indent="0" lvl="0" marL="0" rtl="0" algn="ctr">
              <a:spcBef>
                <a:spcPts val="1200"/>
              </a:spcBef>
              <a:spcAft>
                <a:spcPts val="1200"/>
              </a:spcAft>
              <a:buNone/>
            </a:pPr>
            <a:r>
              <a:t/>
            </a:r>
            <a:endParaRPr sz="1700">
              <a:solidFill>
                <a:srgbClr val="FF0000"/>
              </a:solidFill>
            </a:endParaRPr>
          </a:p>
        </p:txBody>
      </p:sp>
      <p:pic>
        <p:nvPicPr>
          <p:cNvPr id="92" name="Google Shape;92;p19"/>
          <p:cNvPicPr preferRelativeResize="0"/>
          <p:nvPr/>
        </p:nvPicPr>
        <p:blipFill rotWithShape="1">
          <a:blip r:embed="rId3">
            <a:alphaModFix/>
          </a:blip>
          <a:srcRect b="0" l="-17" r="12097" t="0"/>
          <a:stretch/>
        </p:blipFill>
        <p:spPr>
          <a:xfrm>
            <a:off x="311700" y="2346775"/>
            <a:ext cx="4260301" cy="2222100"/>
          </a:xfrm>
          <a:prstGeom prst="rect">
            <a:avLst/>
          </a:prstGeom>
          <a:noFill/>
          <a:ln>
            <a:noFill/>
          </a:ln>
        </p:spPr>
      </p:pic>
      <p:pic>
        <p:nvPicPr>
          <p:cNvPr id="93" name="Google Shape;93;p19"/>
          <p:cNvPicPr preferRelativeResize="0"/>
          <p:nvPr/>
        </p:nvPicPr>
        <p:blipFill>
          <a:blip r:embed="rId4">
            <a:alphaModFix/>
          </a:blip>
          <a:stretch>
            <a:fillRect/>
          </a:stretch>
        </p:blipFill>
        <p:spPr>
          <a:xfrm>
            <a:off x="4572000" y="2109663"/>
            <a:ext cx="4260301" cy="2696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9" name="Google Shape;99;p20" title="Copy of Using nikto vulnerability scanner to create an HTML file and input onto web browser  - Made with Clipchamp_1679447659915.mp4">
            <a:hlinkClick r:id="rId3"/>
          </p:cNvPr>
          <p:cNvPicPr preferRelativeResize="0"/>
          <p:nvPr/>
        </p:nvPicPr>
        <p:blipFill>
          <a:blip r:embed="rId4">
            <a:alphaModFix/>
          </a:blip>
          <a:stretch>
            <a:fillRect/>
          </a:stretch>
        </p:blipFill>
        <p:spPr>
          <a:xfrm>
            <a:off x="0" y="437150"/>
            <a:ext cx="9144000" cy="4706350"/>
          </a:xfrm>
          <a:prstGeom prst="rect">
            <a:avLst/>
          </a:prstGeom>
          <a:noFill/>
          <a:ln>
            <a:noFill/>
          </a:ln>
        </p:spPr>
      </p:pic>
      <p:sp>
        <p:nvSpPr>
          <p:cNvPr id="100" name="Google Shape;100;p20"/>
          <p:cNvSpPr txBox="1"/>
          <p:nvPr/>
        </p:nvSpPr>
        <p:spPr>
          <a:xfrm>
            <a:off x="31950" y="91525"/>
            <a:ext cx="90801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rPr>
              <a:t>Using nikto basic scan-</a:t>
            </a:r>
            <a:endParaRPr b="1">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166100"/>
            <a:ext cx="8520600" cy="41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t>Building an automated schedule to scan daily-</a:t>
            </a:r>
            <a:endParaRPr b="1" sz="1400"/>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7" name="Google Shape;107;p21" title="Nikto schedule - Made with Clipchamp_1679612243759.mp4">
            <a:hlinkClick r:id="rId3"/>
          </p:cNvPr>
          <p:cNvPicPr preferRelativeResize="0"/>
          <p:nvPr/>
        </p:nvPicPr>
        <p:blipFill>
          <a:blip r:embed="rId4">
            <a:alphaModFix/>
          </a:blip>
          <a:stretch>
            <a:fillRect/>
          </a:stretch>
        </p:blipFill>
        <p:spPr>
          <a:xfrm>
            <a:off x="0" y="508925"/>
            <a:ext cx="9144000" cy="4634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nvSpPr>
        <p:spPr>
          <a:xfrm>
            <a:off x="498225" y="830375"/>
            <a:ext cx="79911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(escalate </a:t>
            </a:r>
            <a:r>
              <a:rPr lang="en"/>
              <a:t>privileges</a:t>
            </a:r>
            <a:r>
              <a:rPr lang="en"/>
              <a:t>)</a:t>
            </a:r>
            <a:endParaRPr/>
          </a:p>
          <a:p>
            <a:pPr indent="-317500" lvl="0" marL="457200" rtl="0" algn="l">
              <a:spcBef>
                <a:spcPts val="0"/>
              </a:spcBef>
              <a:spcAft>
                <a:spcPts val="0"/>
              </a:spcAft>
              <a:buSzPts val="1400"/>
              <a:buChar char="●"/>
            </a:pPr>
            <a:r>
              <a:rPr lang="en"/>
              <a:t>Sudo su</a:t>
            </a:r>
            <a:endParaRPr/>
          </a:p>
          <a:p>
            <a:pPr indent="0" lvl="0" marL="0" rtl="0" algn="l">
              <a:spcBef>
                <a:spcPts val="0"/>
              </a:spcBef>
              <a:spcAft>
                <a:spcPts val="0"/>
              </a:spcAft>
              <a:buNone/>
            </a:pPr>
            <a:r>
              <a:rPr lang="en"/>
              <a:t>(accessing crontab)</a:t>
            </a:r>
            <a:endParaRPr/>
          </a:p>
          <a:p>
            <a:pPr indent="-317500" lvl="0" marL="457200" rtl="0" algn="l">
              <a:spcBef>
                <a:spcPts val="0"/>
              </a:spcBef>
              <a:spcAft>
                <a:spcPts val="0"/>
              </a:spcAft>
              <a:buSzPts val="1400"/>
              <a:buChar char="●"/>
            </a:pPr>
            <a:r>
              <a:rPr lang="en"/>
              <a:t>Crontab -e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(inside crontab file)</a:t>
            </a:r>
            <a:endParaRPr/>
          </a:p>
          <a:p>
            <a:pPr indent="-317500" lvl="0" marL="457200" rtl="0" algn="l">
              <a:spcBef>
                <a:spcPts val="0"/>
              </a:spcBef>
              <a:spcAft>
                <a:spcPts val="0"/>
              </a:spcAft>
              <a:buSzPts val="1400"/>
              <a:buChar char="●"/>
            </a:pPr>
            <a:r>
              <a:rPr lang="en"/>
              <a:t>30 </a:t>
            </a:r>
            <a:r>
              <a:rPr lang="en"/>
              <a:t>6 * * *  /bin/sh /home/user/Desktop/nikto.sh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(go to desktop directory)</a:t>
            </a:r>
            <a:endParaRPr/>
          </a:p>
          <a:p>
            <a:pPr indent="-317500" lvl="0" marL="457200" rtl="0" algn="l">
              <a:spcBef>
                <a:spcPts val="0"/>
              </a:spcBef>
              <a:spcAft>
                <a:spcPts val="0"/>
              </a:spcAft>
              <a:buSzPts val="1400"/>
              <a:buChar char="●"/>
            </a:pPr>
            <a:r>
              <a:rPr lang="en"/>
              <a:t>nano nikto.sh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(inside nikto.sh file)</a:t>
            </a:r>
            <a:endParaRPr/>
          </a:p>
          <a:p>
            <a:pPr indent="-317500" lvl="0" marL="457200" rtl="0" algn="l">
              <a:spcBef>
                <a:spcPts val="0"/>
              </a:spcBef>
              <a:spcAft>
                <a:spcPts val="0"/>
              </a:spcAft>
              <a:buSzPts val="1400"/>
              <a:buChar char="●"/>
            </a:pPr>
            <a:r>
              <a:rPr lang="en"/>
              <a:t>Ex. Nikto -h &lt;IP address&gt; -o &lt;name&gt;.html -F html</a:t>
            </a:r>
            <a:endParaRPr/>
          </a:p>
          <a:p>
            <a:pPr indent="-317500" lvl="0" marL="457200" rtl="0" algn="l">
              <a:spcBef>
                <a:spcPts val="0"/>
              </a:spcBef>
              <a:spcAft>
                <a:spcPts val="0"/>
              </a:spcAft>
              <a:buSzPts val="1400"/>
              <a:buChar char="●"/>
            </a:pPr>
            <a:r>
              <a:rPr lang="en"/>
              <a:t>nikto -h 149.56.244.87 -o /home/sysadmin/Desktop/Vuln_schedule.html -F html</a:t>
            </a:r>
            <a:endParaRPr/>
          </a:p>
          <a:p>
            <a:pPr indent="-317500" lvl="0" marL="457200" rtl="0" algn="l">
              <a:spcBef>
                <a:spcPts val="0"/>
              </a:spcBef>
              <a:spcAft>
                <a:spcPts val="0"/>
              </a:spcAft>
              <a:buSzPts val="1400"/>
              <a:buChar char="●"/>
            </a:pPr>
            <a:r>
              <a:rPr lang="en"/>
              <a:t>nikto -h 149.56.244.87 -o /home/sysadmin/Desktop/Vuln_schedule.txt -F txt</a:t>
            </a:r>
            <a:endParaRPr/>
          </a:p>
          <a:p>
            <a:pPr indent="0" lvl="0" marL="0" rtl="0" algn="l">
              <a:spcBef>
                <a:spcPts val="0"/>
              </a:spcBef>
              <a:spcAft>
                <a:spcPts val="0"/>
              </a:spcAft>
              <a:buNone/>
            </a:pPr>
            <a:r>
              <a:rPr lang="en"/>
              <a:t>(making the script executable)</a:t>
            </a:r>
            <a:endParaRPr/>
          </a:p>
          <a:p>
            <a:pPr indent="-317500" lvl="0" marL="457200" rtl="0" algn="l">
              <a:spcBef>
                <a:spcPts val="0"/>
              </a:spcBef>
              <a:spcAft>
                <a:spcPts val="0"/>
              </a:spcAft>
              <a:buSzPts val="1400"/>
              <a:buChar char="●"/>
            </a:pPr>
            <a:r>
              <a:rPr lang="en"/>
              <a:t>Chmod  u+x nikto.sh</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3" name="Google Shape;113;p22"/>
          <p:cNvSpPr txBox="1"/>
          <p:nvPr/>
        </p:nvSpPr>
        <p:spPr>
          <a:xfrm>
            <a:off x="195375" y="209875"/>
            <a:ext cx="8753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t>Building an automated scheduling system to run this scan daily</a:t>
            </a:r>
            <a:endParaRPr b="1"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520"/>
              <a:t>Benefits of Using Nikto</a:t>
            </a:r>
            <a:r>
              <a:rPr lang="en" sz="3720"/>
              <a:t>			</a:t>
            </a:r>
            <a:endParaRPr sz="3720"/>
          </a:p>
        </p:txBody>
      </p:sp>
      <p:sp>
        <p:nvSpPr>
          <p:cNvPr id="119" name="Google Shape;119;p23"/>
          <p:cNvSpPr txBox="1"/>
          <p:nvPr>
            <p:ph idx="1" type="body"/>
          </p:nvPr>
        </p:nvSpPr>
        <p:spPr>
          <a:xfrm>
            <a:off x="311700" y="1152475"/>
            <a:ext cx="8402700" cy="3416400"/>
          </a:xfrm>
          <a:prstGeom prst="rect">
            <a:avLst/>
          </a:prstGeom>
        </p:spPr>
        <p:txBody>
          <a:bodyPr anchorCtr="0" anchor="t" bIns="91425" lIns="91425" spcFirstLastPara="1" rIns="91425" wrap="square" tIns="91425">
            <a:normAutofit lnSpcReduction="20000"/>
          </a:bodyPr>
          <a:lstStyle/>
          <a:p>
            <a:pPr indent="-355600" lvl="0" marL="457200" rtl="0" algn="l">
              <a:spcBef>
                <a:spcPts val="0"/>
              </a:spcBef>
              <a:spcAft>
                <a:spcPts val="0"/>
              </a:spcAft>
              <a:buClr>
                <a:srgbClr val="000000"/>
              </a:buClr>
              <a:buSzPts val="2000"/>
              <a:buChar char="●"/>
            </a:pPr>
            <a:r>
              <a:rPr lang="en" sz="2000">
                <a:solidFill>
                  <a:srgbClr val="000000"/>
                </a:solidFill>
              </a:rPr>
              <a:t>Performs over 6700 different tests against a website including SQL injection, Cross-site scripting and Cross-site request forgery</a:t>
            </a:r>
            <a:endParaRPr sz="2000">
              <a:solidFill>
                <a:srgbClr val="000000"/>
              </a:solidFill>
            </a:endParaRPr>
          </a:p>
          <a:p>
            <a:pPr indent="-355600" lvl="0" marL="457200" rtl="0" algn="l">
              <a:spcBef>
                <a:spcPts val="0"/>
              </a:spcBef>
              <a:spcAft>
                <a:spcPts val="0"/>
              </a:spcAft>
              <a:buClr>
                <a:srgbClr val="000000"/>
              </a:buClr>
              <a:buSzPts val="2000"/>
              <a:buChar char="●"/>
            </a:pPr>
            <a:r>
              <a:rPr lang="en" sz="2000">
                <a:solidFill>
                  <a:srgbClr val="000000"/>
                </a:solidFill>
              </a:rPr>
              <a:t>Used to scan Virtual Hosts as well as Websites and Web Servers as well</a:t>
            </a:r>
            <a:endParaRPr sz="2000">
              <a:solidFill>
                <a:srgbClr val="000000"/>
              </a:solidFill>
            </a:endParaRPr>
          </a:p>
          <a:p>
            <a:pPr indent="-355600" lvl="0" marL="457200" rtl="0" algn="l">
              <a:spcBef>
                <a:spcPts val="0"/>
              </a:spcBef>
              <a:spcAft>
                <a:spcPts val="0"/>
              </a:spcAft>
              <a:buClr>
                <a:srgbClr val="000000"/>
              </a:buClr>
              <a:buSzPts val="2000"/>
              <a:buChar char="●"/>
            </a:pPr>
            <a:r>
              <a:rPr lang="en" sz="2000">
                <a:solidFill>
                  <a:srgbClr val="000000"/>
                </a:solidFill>
              </a:rPr>
              <a:t>Is great because it is open sourced and it is often being updated in the GitHub repository</a:t>
            </a:r>
            <a:endParaRPr sz="2000">
              <a:solidFill>
                <a:srgbClr val="000000"/>
              </a:solidFill>
            </a:endParaRPr>
          </a:p>
          <a:p>
            <a:pPr indent="-355600" lvl="0" marL="457200" rtl="0" algn="l">
              <a:spcBef>
                <a:spcPts val="0"/>
              </a:spcBef>
              <a:spcAft>
                <a:spcPts val="0"/>
              </a:spcAft>
              <a:buClr>
                <a:srgbClr val="000000"/>
              </a:buClr>
              <a:buSzPts val="2000"/>
              <a:buChar char="●"/>
            </a:pPr>
            <a:r>
              <a:rPr lang="en" sz="2000">
                <a:solidFill>
                  <a:srgbClr val="000000"/>
                </a:solidFill>
              </a:rPr>
              <a:t>Has many ways built in to evade most security measures</a:t>
            </a:r>
            <a:endParaRPr sz="2000">
              <a:solidFill>
                <a:srgbClr val="000000"/>
              </a:solidFill>
            </a:endParaRPr>
          </a:p>
          <a:p>
            <a:pPr indent="-355600" lvl="0" marL="457200" rtl="0" algn="l">
              <a:spcBef>
                <a:spcPts val="0"/>
              </a:spcBef>
              <a:spcAft>
                <a:spcPts val="0"/>
              </a:spcAft>
              <a:buClr>
                <a:srgbClr val="000000"/>
              </a:buClr>
              <a:buSzPts val="2000"/>
              <a:buChar char="●"/>
            </a:pPr>
            <a:r>
              <a:rPr lang="en" sz="2000">
                <a:solidFill>
                  <a:srgbClr val="000000"/>
                </a:solidFill>
              </a:rPr>
              <a:t>Can directly output results into a file, and even directly to metasploit</a:t>
            </a:r>
            <a:endParaRPr sz="2000">
              <a:solidFill>
                <a:srgbClr val="000000"/>
              </a:solidFill>
            </a:endParaRPr>
          </a:p>
          <a:p>
            <a:pPr indent="-355600" lvl="0" marL="457200" rtl="0" algn="l">
              <a:spcBef>
                <a:spcPts val="0"/>
              </a:spcBef>
              <a:spcAft>
                <a:spcPts val="0"/>
              </a:spcAft>
              <a:buClr>
                <a:srgbClr val="000000"/>
              </a:buClr>
              <a:buSzPts val="2000"/>
              <a:buChar char="●"/>
            </a:pPr>
            <a:r>
              <a:rPr lang="en" sz="2000">
                <a:solidFill>
                  <a:srgbClr val="000000"/>
                </a:solidFill>
              </a:rPr>
              <a:t>Used by a large number of PenTesters</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520"/>
              <a:t>Negatives of Using Nikto</a:t>
            </a:r>
            <a:endParaRPr b="1" sz="3520"/>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Clr>
                <a:srgbClr val="000000"/>
              </a:buClr>
              <a:buSzPts val="1900"/>
              <a:buChar char="●"/>
            </a:pPr>
            <a:r>
              <a:rPr lang="en" sz="1900">
                <a:solidFill>
                  <a:srgbClr val="000000"/>
                </a:solidFill>
              </a:rPr>
              <a:t>The Scan can take a long time due to all of the different tests.</a:t>
            </a:r>
            <a:endParaRPr sz="1900">
              <a:solidFill>
                <a:srgbClr val="000000"/>
              </a:solidFill>
            </a:endParaRPr>
          </a:p>
          <a:p>
            <a:pPr indent="-349250" lvl="0" marL="457200" rtl="0" algn="l">
              <a:spcBef>
                <a:spcPts val="0"/>
              </a:spcBef>
              <a:spcAft>
                <a:spcPts val="0"/>
              </a:spcAft>
              <a:buClr>
                <a:srgbClr val="000000"/>
              </a:buClr>
              <a:buSzPts val="1900"/>
              <a:buChar char="●"/>
            </a:pPr>
            <a:r>
              <a:rPr lang="en" sz="1900">
                <a:solidFill>
                  <a:srgbClr val="000000"/>
                </a:solidFill>
              </a:rPr>
              <a:t>The Scans are typically very noisy and easy to detect</a:t>
            </a:r>
            <a:endParaRPr sz="1900">
              <a:solidFill>
                <a:srgbClr val="000000"/>
              </a:solidFill>
            </a:endParaRPr>
          </a:p>
          <a:p>
            <a:pPr indent="-349250" lvl="0" marL="457200" rtl="0" algn="l">
              <a:spcBef>
                <a:spcPts val="0"/>
              </a:spcBef>
              <a:spcAft>
                <a:spcPts val="0"/>
              </a:spcAft>
              <a:buClr>
                <a:srgbClr val="000000"/>
              </a:buClr>
              <a:buSzPts val="1900"/>
              <a:buChar char="●"/>
            </a:pPr>
            <a:r>
              <a:rPr lang="en" sz="1900">
                <a:solidFill>
                  <a:srgbClr val="000000"/>
                </a:solidFill>
              </a:rPr>
              <a:t>Many false positives can be found, though they are generally pretty easy to determine</a:t>
            </a:r>
            <a:endParaRPr sz="1900">
              <a:solidFill>
                <a:srgbClr val="000000"/>
              </a:solidFill>
            </a:endParaRPr>
          </a:p>
          <a:p>
            <a:pPr indent="-349250" lvl="0" marL="457200" rtl="0" algn="l">
              <a:spcBef>
                <a:spcPts val="0"/>
              </a:spcBef>
              <a:spcAft>
                <a:spcPts val="0"/>
              </a:spcAft>
              <a:buClr>
                <a:srgbClr val="000000"/>
              </a:buClr>
              <a:buSzPts val="1900"/>
              <a:buChar char="●"/>
            </a:pPr>
            <a:r>
              <a:rPr lang="en" sz="1900">
                <a:solidFill>
                  <a:srgbClr val="000000"/>
                </a:solidFill>
              </a:rPr>
              <a:t>A major problem is that it doesn’t have any form of support </a:t>
            </a:r>
            <a:endParaRPr sz="1900">
              <a:solidFill>
                <a:srgbClr val="000000"/>
              </a:solidFill>
            </a:endParaRPr>
          </a:p>
          <a:p>
            <a:pPr indent="-349250" lvl="0" marL="457200" rtl="0" algn="l">
              <a:spcBef>
                <a:spcPts val="0"/>
              </a:spcBef>
              <a:spcAft>
                <a:spcPts val="0"/>
              </a:spcAft>
              <a:buClr>
                <a:srgbClr val="000000"/>
              </a:buClr>
              <a:buSzPts val="1900"/>
              <a:buChar char="●"/>
            </a:pPr>
            <a:r>
              <a:rPr lang="en" sz="1900">
                <a:solidFill>
                  <a:srgbClr val="000000"/>
                </a:solidFill>
              </a:rPr>
              <a:t>No GUI options, so can only be run using linux or unix-like options</a:t>
            </a:r>
            <a:endParaRPr sz="1900">
              <a:solidFill>
                <a:srgbClr val="000000"/>
              </a:solidFill>
            </a:endParaRPr>
          </a:p>
          <a:p>
            <a:pPr indent="-349250" lvl="0" marL="457200" rtl="0" algn="l">
              <a:spcBef>
                <a:spcPts val="0"/>
              </a:spcBef>
              <a:spcAft>
                <a:spcPts val="0"/>
              </a:spcAft>
              <a:buClr>
                <a:srgbClr val="000000"/>
              </a:buClr>
              <a:buSzPts val="1900"/>
              <a:buChar char="●"/>
            </a:pPr>
            <a:r>
              <a:rPr lang="en" sz="1900">
                <a:solidFill>
                  <a:srgbClr val="000000"/>
                </a:solidFill>
              </a:rPr>
              <a:t>You need to purchase a vulnerability list</a:t>
            </a:r>
            <a:endParaRPr sz="1900">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 Conclusion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